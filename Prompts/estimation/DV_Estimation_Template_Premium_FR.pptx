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d33a83c4844630" /><Relationship Type="http://schemas.openxmlformats.org/officeDocument/2006/relationships/extended-properties" Target="/docProps/app.xml" Id="R6b66a7c54ba7416b" /><Relationship Type="http://schemas.openxmlformats.org/officeDocument/2006/relationships/officeDocument" Target="/ppt/presentation.xml" Id="R36fd7ad352144e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117f35b2aa48b6"/>
  </p:sldMasterIdLst>
  <p:notesMasterIdLst>
    <p:notesMasterId xmlns:r="http://schemas.openxmlformats.org/officeDocument/2006/relationships" r:id="R2475e68e6dfa4af1"/>
  </p:notesMasterIdLst>
  <p:sldIdLst>
    <p:sldId xmlns:r="http://schemas.openxmlformats.org/officeDocument/2006/relationships" id="256" r:id="Rd95d4aaef5e242f1"/>
    <p:sldId xmlns:r="http://schemas.openxmlformats.org/officeDocument/2006/relationships" id="257" r:id="R2448ecafa56946cb"/>
    <p:sldId xmlns:r="http://schemas.openxmlformats.org/officeDocument/2006/relationships" id="258" r:id="R59d87f5cd04e471e"/>
    <p:sldId xmlns:r="http://schemas.openxmlformats.org/officeDocument/2006/relationships" id="259" r:id="Ree39e35af7a341f9"/>
    <p:sldId xmlns:r="http://schemas.openxmlformats.org/officeDocument/2006/relationships" id="260" r:id="R69afd09fcb534317"/>
    <p:sldId xmlns:r="http://schemas.openxmlformats.org/officeDocument/2006/relationships" id="261" r:id="R1920d90b55fb45be"/>
    <p:sldId xmlns:r="http://schemas.openxmlformats.org/officeDocument/2006/relationships" id="262" r:id="R6459b241a9d8492b"/>
    <p:sldId xmlns:r="http://schemas.openxmlformats.org/officeDocument/2006/relationships" id="263" r:id="Rff6d60754f064521"/>
    <p:sldId xmlns:r="http://schemas.openxmlformats.org/officeDocument/2006/relationships" id="264" r:id="Rb9109eb3a1bc43a9"/>
    <p:sldId xmlns:r="http://schemas.openxmlformats.org/officeDocument/2006/relationships" id="265" r:id="R34fa5e2bd3e64d88"/>
    <p:sldId xmlns:r="http://schemas.openxmlformats.org/officeDocument/2006/relationships" id="266" r:id="Reed03368eedb4467"/>
    <p:sldId xmlns:r="http://schemas.openxmlformats.org/officeDocument/2006/relationships" id="267" r:id="Re37bf7a28bac4fca"/>
    <p:sldId xmlns:r="http://schemas.openxmlformats.org/officeDocument/2006/relationships" id="268" r:id="R9cfee0a84ea845ee"/>
    <p:sldId xmlns:r="http://schemas.openxmlformats.org/officeDocument/2006/relationships" id="269" r:id="R6c15b06a17aa4bb3"/>
    <p:sldId xmlns:r="http://schemas.openxmlformats.org/officeDocument/2006/relationships" id="270" r:id="Rc17bf846ccbc4b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7c260973534652" /><Relationship Type="http://schemas.openxmlformats.org/officeDocument/2006/relationships/slideMaster" Target="/ppt/slideMasters/slideMaster1.xml" Id="R6a117f35b2aa48b6" /><Relationship Type="http://schemas.openxmlformats.org/officeDocument/2006/relationships/notesMaster" Target="/ppt/notesMasters/notesMaster1.xml" Id="R2475e68e6dfa4af1" /><Relationship Type="http://schemas.openxmlformats.org/officeDocument/2006/relationships/presProps" Target="/ppt/presProps.xml" Id="R7fe2b781f2e240ed" /><Relationship Type="http://schemas.openxmlformats.org/officeDocument/2006/relationships/tableStyles" Target="/ppt/tableStyles.xml" Id="R33647e5107494827" /><Relationship Type="http://schemas.openxmlformats.org/officeDocument/2006/relationships/slide" Target="/ppt/slides/slide1.xml" Id="Rd95d4aaef5e242f1" /><Relationship Type="http://schemas.openxmlformats.org/officeDocument/2006/relationships/slide" Target="/ppt/slides/slide2.xml" Id="R2448ecafa56946cb" /><Relationship Type="http://schemas.openxmlformats.org/officeDocument/2006/relationships/slide" Target="/ppt/slides/slide3.xml" Id="R59d87f5cd04e471e" /><Relationship Type="http://schemas.openxmlformats.org/officeDocument/2006/relationships/slide" Target="/ppt/slides/slide4.xml" Id="Ree39e35af7a341f9" /><Relationship Type="http://schemas.openxmlformats.org/officeDocument/2006/relationships/slide" Target="/ppt/slides/slide5.xml" Id="R69afd09fcb534317" /><Relationship Type="http://schemas.openxmlformats.org/officeDocument/2006/relationships/slide" Target="/ppt/slides/slide6.xml" Id="R1920d90b55fb45be" /><Relationship Type="http://schemas.openxmlformats.org/officeDocument/2006/relationships/slide" Target="/ppt/slides/slide7.xml" Id="R6459b241a9d8492b" /><Relationship Type="http://schemas.openxmlformats.org/officeDocument/2006/relationships/slide" Target="/ppt/slides/slide8.xml" Id="Rff6d60754f064521" /><Relationship Type="http://schemas.openxmlformats.org/officeDocument/2006/relationships/slide" Target="/ppt/slides/slide9.xml" Id="Rb9109eb3a1bc43a9" /><Relationship Type="http://schemas.openxmlformats.org/officeDocument/2006/relationships/slide" Target="/ppt/slides/slide10.xml" Id="R34fa5e2bd3e64d88" /><Relationship Type="http://schemas.openxmlformats.org/officeDocument/2006/relationships/slide" Target="/ppt/slides/slide11.xml" Id="Reed03368eedb4467" /><Relationship Type="http://schemas.openxmlformats.org/officeDocument/2006/relationships/slide" Target="/ppt/slides/slide12.xml" Id="Re37bf7a28bac4fca" /><Relationship Type="http://schemas.openxmlformats.org/officeDocument/2006/relationships/slide" Target="/ppt/slides/slide13.xml" Id="R9cfee0a84ea845ee" /><Relationship Type="http://schemas.openxmlformats.org/officeDocument/2006/relationships/slide" Target="/ppt/slides/slide14.xml" Id="R6c15b06a17aa4bb3" /><Relationship Type="http://schemas.openxmlformats.org/officeDocument/2006/relationships/slide" Target="/ppt/slides/slide15.xml" Id="Rc17bf846ccbc4b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10be8175b646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3e53ab53143c7" /><Relationship Type="http://schemas.openxmlformats.org/officeDocument/2006/relationships/notesMaster" Target="/ppt/notesMasters/notesMaster1.xml" Id="R257baa704a3945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a76ab44ed54ac5" /><Relationship Type="http://schemas.openxmlformats.org/officeDocument/2006/relationships/notesMaster" Target="/ppt/notesMasters/notesMaster1.xml" Id="R6fc64032548b44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4a06fd4c394d93" /><Relationship Type="http://schemas.openxmlformats.org/officeDocument/2006/relationships/notesMaster" Target="/ppt/notesMasters/notesMaster1.xml" Id="Rebfbd5e89de94e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b45ee5b64c4eba" /><Relationship Type="http://schemas.openxmlformats.org/officeDocument/2006/relationships/notesMaster" Target="/ppt/notesMasters/notesMaster1.xml" Id="R10d873490efc44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4643005dfa4152" /><Relationship Type="http://schemas.openxmlformats.org/officeDocument/2006/relationships/notesMaster" Target="/ppt/notesMasters/notesMaster1.xml" Id="R6b9ed4113230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305cf50e5944dc" /><Relationship Type="http://schemas.openxmlformats.org/officeDocument/2006/relationships/notesMaster" Target="/ppt/notesMasters/notesMaster1.xml" Id="R07a4e0584e2644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c8ecc22d6843fb" /><Relationship Type="http://schemas.openxmlformats.org/officeDocument/2006/relationships/notesMaster" Target="/ppt/notesMasters/notesMaster1.xml" Id="R31d78028cd3c4c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ab12985f154f42" /><Relationship Type="http://schemas.openxmlformats.org/officeDocument/2006/relationships/notesMaster" Target="/ppt/notesMasters/notesMaster1.xml" Id="R25bbebeaa11742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92fe15f8554db5" /><Relationship Type="http://schemas.openxmlformats.org/officeDocument/2006/relationships/notesMaster" Target="/ppt/notesMasters/notesMaster1.xml" Id="R44752765d7b647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d447e820c7408b" /><Relationship Type="http://schemas.openxmlformats.org/officeDocument/2006/relationships/notesMaster" Target="/ppt/notesMasters/notesMaster1.xml" Id="R84ee89dfa3d44a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e5a14490094fc9" /><Relationship Type="http://schemas.openxmlformats.org/officeDocument/2006/relationships/notesMaster" Target="/ppt/notesMasters/notesMaster1.xml" Id="Ra9b4f93378a743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efe3f73c124125" /><Relationship Type="http://schemas.openxmlformats.org/officeDocument/2006/relationships/notesMaster" Target="/ppt/notesMasters/notesMaster1.xml" Id="Rb729c222ed5142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09487430034e3b" /><Relationship Type="http://schemas.openxmlformats.org/officeDocument/2006/relationships/notesMaster" Target="/ppt/notesMasters/notesMaster1.xml" Id="Rec0af8d327c345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838852a53d40ea" /><Relationship Type="http://schemas.openxmlformats.org/officeDocument/2006/relationships/notesMaster" Target="/ppt/notesMasters/notesMaster1.xml" Id="Rfcba914234e146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882e6e088b4f04" /><Relationship Type="http://schemas.openxmlformats.org/officeDocument/2006/relationships/notesMaster" Target="/ppt/notesMasters/notesMaster1.xml" Id="Rb4f73d492ef544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Photo principale: visite du bien. Identité: intake/CRM. Adresse: RF/PPE. Date d'estimation: système.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RF, cahier PPE, plans, comptes PPE, documents techniques, propriétaire et visite. Each value requires a source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Official cadastral plan and SITG/RDPPF. Map provider and retrieval date. Highlight only verified parcel/building.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Professional visit observations. Separate documented facts, owner declarations and Sandra's judgement.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Visit photography. Record room, viewpoint, date and any visible condition evidence. Replace all example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Visit photography: building, access, exterior spaces, common areas and views. Replace all example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PPE/architect plans. Highlight the verified lot and dependencies without altering scale or legal meaning.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Licensed/approved listing sources. Preserve URL, portal, listing ID, capture date, price history and parking inclusion.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Prefer verified transactions. Record evidence class, original price, normalised price, surface definition and parking/exterior treatment.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OCSTAT and approved local indicators. Show geography, property type, period, update date and whether values are asking or transaction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D&amp;V approved rule set and Sandra's professional decisions. Show the rule version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Approved calculation and professional price strategy. Keep market value, asking price and expected sale value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Official tax, energy and compliance sources with retrieval dates. Use specialist advice where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Current D&amp;V tariff schedule and contract terms. Legal/contract version must match the issue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Current D&amp;V contact details, approved portraits, authorised QR destination and current brand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3b6af98d444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d5a14fff19452e" /><Relationship Type="http://schemas.openxmlformats.org/officeDocument/2006/relationships/slideLayout" Target="/ppt/slideLayouts/slideLayout1.xml" Id="R49edfdf490a44a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edfdf490a44a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a492180d94dd9" /><Relationship Type="http://schemas.openxmlformats.org/officeDocument/2006/relationships/image" Target="/ppt/media/image.png" Id="R166146d5c14645c8" /><Relationship Type="http://schemas.openxmlformats.org/officeDocument/2006/relationships/image" Target="/ppt/media/image2.png" Id="Rb9022d3d6ea64d8c" /><Relationship Type="http://schemas.openxmlformats.org/officeDocument/2006/relationships/notesSlide" Target="/ppt/notesSlides/notesSlide1.xml" Id="R424e9ff3df4b42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b38e72b754fdb" /><Relationship Type="http://schemas.openxmlformats.org/officeDocument/2006/relationships/notesSlide" Target="/ppt/notesSlides/notesSlide2.xml" Id="R0207c00bd12a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5b55d588d4122" /><Relationship Type="http://schemas.openxmlformats.org/officeDocument/2006/relationships/notesSlide" Target="/ppt/notesSlides/notesSlide3.xml" Id="Rc205f38e59e242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6058a278842ac" /><Relationship Type="http://schemas.openxmlformats.org/officeDocument/2006/relationships/image" Target="/ppt/media/image.jpeg" Id="R345acf256f7c4eb3" /><Relationship Type="http://schemas.openxmlformats.org/officeDocument/2006/relationships/notesSlide" Target="/ppt/notesSlides/notesSlide4.xml" Id="Rf89c38dabf0c44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0415c2d014e3e" /><Relationship Type="http://schemas.openxmlformats.org/officeDocument/2006/relationships/image" Target="/ppt/media/image2.jpeg" Id="R3627b7bd31b642d4" /><Relationship Type="http://schemas.openxmlformats.org/officeDocument/2006/relationships/image" Target="/ppt/media/image3.jpeg" Id="R238231844a0249a8" /><Relationship Type="http://schemas.openxmlformats.org/officeDocument/2006/relationships/image" Target="/ppt/media/image4.jpeg" Id="R26c916f223664e73" /><Relationship Type="http://schemas.openxmlformats.org/officeDocument/2006/relationships/image" Target="/ppt/media/image5.jpeg" Id="Rad0b71d0805a4b68" /><Relationship Type="http://schemas.openxmlformats.org/officeDocument/2006/relationships/image" Target="/ppt/media/image6.jpeg" Id="Rca4976fc9393485c" /><Relationship Type="http://schemas.openxmlformats.org/officeDocument/2006/relationships/notesSlide" Target="/ppt/notesSlides/notesSlide5.xml" Id="R582544314b9f4b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4b511c7004059" /><Relationship Type="http://schemas.openxmlformats.org/officeDocument/2006/relationships/image" Target="/ppt/media/image7.jpeg" Id="R2458036f5a384c72" /><Relationship Type="http://schemas.openxmlformats.org/officeDocument/2006/relationships/image" Target="/ppt/media/image8.jpeg" Id="Rb788a7f3ec074345" /><Relationship Type="http://schemas.openxmlformats.org/officeDocument/2006/relationships/image" Target="/ppt/media/image9.jpeg" Id="R147883edccd8430b" /><Relationship Type="http://schemas.openxmlformats.org/officeDocument/2006/relationships/image" Target="/ppt/media/image10.jpeg" Id="R9150977783e646be" /><Relationship Type="http://schemas.openxmlformats.org/officeDocument/2006/relationships/notesSlide" Target="/ppt/notesSlides/notesSlide6.xml" Id="R4b536f7ef54f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e31b969ae47f6" /><Relationship Type="http://schemas.openxmlformats.org/officeDocument/2006/relationships/notesSlide" Target="/ppt/notesSlides/notesSlide7.xml" Id="R21abfdada23d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9f5eb6e77477c" /><Relationship Type="http://schemas.openxmlformats.org/officeDocument/2006/relationships/notesSlide" Target="/ppt/notesSlides/notesSlide8.xml" Id="Ra92e3a1cb23a46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e6bec8f894f54" /><Relationship Type="http://schemas.openxmlformats.org/officeDocument/2006/relationships/notesSlide" Target="/ppt/notesSlides/notesSlide9.xml" Id="R2fe4f26b921f4a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ed036576e4588" /><Relationship Type="http://schemas.openxmlformats.org/officeDocument/2006/relationships/notesSlide" Target="/ppt/notesSlides/notesSlide10.xml" Id="R4d8bfcfe44ce45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fd4941ef04c21" /><Relationship Type="http://schemas.openxmlformats.org/officeDocument/2006/relationships/notesSlide" Target="/ppt/notesSlides/notesSlide11.xml" Id="Ra9c9b96c4ce247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95d2633054391" /><Relationship Type="http://schemas.openxmlformats.org/officeDocument/2006/relationships/notesSlide" Target="/ppt/notesSlides/notesSlide12.xml" Id="R03baa22c40544d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05cf2b0604ae5" /><Relationship Type="http://schemas.openxmlformats.org/officeDocument/2006/relationships/notesSlide" Target="/ppt/notesSlides/notesSlide13.xml" Id="Re2869b3b23e347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6fdf6665c4d3c" /><Relationship Type="http://schemas.openxmlformats.org/officeDocument/2006/relationships/notesSlide" Target="/ppt/notesSlides/notesSlide14.xml" Id="R0b4e42b2f80846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7bf610dd24c1c" /><Relationship Type="http://schemas.openxmlformats.org/officeDocument/2006/relationships/image" Target="/ppt/media/image3.png" Id="R650c913eceaa4cc7" /><Relationship Type="http://schemas.openxmlformats.org/officeDocument/2006/relationships/notesSlide" Target="/ppt/notesSlides/notesSlide15.xml" Id="R5f4c604a8ae144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6B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146d5c14645c8"/>
          <a:srcRect xmlns:a="http://schemas.openxmlformats.org/drawingml/2006/main" l="4694" t="0" r="4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0" y="0"/>
            <a:ext cx="8286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85B42-A45C-4B65-86A3-F129BC4A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28E34-3980-44F4-A5BD-8F5595B4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2381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6B70"/>
              </a:gs>
              <a:gs pos="100000">
                <a:srgbClr val="006B7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22d3d6ea64d8c"/>
          <a:stretch xmlns:a="http://schemas.openxmlformats.org/drawingml/2006/main"/>
        </p:blipFill>
        <p:spPr>
          <a:xfrm xmlns:a="http://schemas.openxmlformats.org/drawingml/2006/main">
            <a:off x="1225726" y="400050"/>
            <a:ext cx="1720499" cy="1066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2A7BA-1A5A-4F75-BC7D-DB268C8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[TYPE DE BIEN]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F96A8-43BF-4C88-AF8B-3F0A7ECF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906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Estimation de votre</a:t>
            </a:r>
          </a:p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[appartement / maison]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8EDB4-A26A-4642-9042-7CB5CA04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[Nom du propriétaire]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727EB-B70D-4C57-9EF7-29886E05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[Commune], le [date]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C730F-AE02-4E66-941F-3C41A717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3143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7DF0E-92CF-4301-9CDC-B537704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[ADRESSE DU BIEN]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E6A16-043B-47AE-B81E-6885A1A2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D6514-8A50-4566-90F3-E392553C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1E2CB-7CA9-456D-9041-44243DB8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Photo principale: visite du bien · Identité client: intake/CRM · Date: système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F00E7-3F03-46F9-BD0C-70169A9A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9865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B3399-8D33-486E-BE39-0E7169AC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01 · FICHE ESSENTIELLE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00246-CFD0-412F-B54E-1666147C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Le bien en un regard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A5D92-CCAC-44B8-AE4B-467EB238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20E17-E034-4CD3-9A93-4B3915E0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55C4C-2073-44B0-B73D-A3763458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2F2EF-7D51-4EA1-B066-9B9338D8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RF · cahier PPE · plans · propriétaire · visite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22B9F-147D-4412-971C-58889957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008CE-ABA1-4E25-876E-2428B6B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[ADRESSE COMPLÈTE]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411C2-790F-4A0D-83F4-B34BE1F7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[Nom de la résidence / bâtiment]  ·  [Commune]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B976E-3E7A-4D66-B92F-D7E3186D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7491F-AE0E-473A-83F0-219165CE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PIÈCES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26F60-2162-478F-BA78-A507082A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24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343A1-F2D7-45A8-8F57-E105F13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SURFACE PPE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99762-7E23-49FD-916F-1DF69C4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54AA6-7F54-449E-8D9A-2EA86750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SURFACE PONDÉRÉE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D04E2-C829-45AF-8420-AE22D78A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[AAAA]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22E4F-1EA3-4B31-83C0-790D7E71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CONSTRUCTION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FA3F2-03A3-4593-9514-D06C0D7B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0052B-E775-42F8-982A-A5B804CC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IDENTITÉ JURIDIQUE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00DCC-E19E-435E-BC46-BD203E2C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809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Parcelle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Bâtiment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Lot PPE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Quote-part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Étage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Zone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282DF-C564-4E9C-A1EB-AFE09F6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147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[n°]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[n°]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[n°]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[étage]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[zone]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680A7-CD8F-44BA-B7D6-E3BF001C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DÉPENDANCES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C044B-99F4-4F71-8FE2-18FC26E5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[Cave]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droit d’usage]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[Locaux communs]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4EBB2-E463-4739-82AF-4F57B368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DONNÉES TECHNIQUES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CBA94-C0CC-41F9-A2F9-8DD9B957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238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[Chauffage]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[Fenêtres]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[Label énergétique]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[Ascenseur]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[Charges / fonds]</a:t>
            </a:r>
          </a:p>
        </p:txBody>
      </p:sp>
    </p:spTree>
    <p:extLst>
      <p:ext uri="{BB962C8B-B14F-4D97-AF65-F5344CB8AC3E}">
        <p14:creationId xmlns:p14="http://schemas.microsoft.com/office/powerpoint/2010/main" val="1348418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419AE-DBFC-44CD-8DB6-7A37F942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02 · LOCALISATION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4FDF2-E7B8-4E96-BCE8-AB36E0C0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Cadastre et contexte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FD2F7-BA35-4220-B112-9599BF46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B5866-77A2-4ED5-84BD-17616CED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47C4A-B809-481C-9588-4C7AFB6C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D91F1-D2F1-483C-99F4-1BAEFC88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SITG / cadastre · RDPPF · carte de situation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96400-C09F-4BE4-AB95-D8822C1B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2E8F7-2554-47C9-873C-C3D3242C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149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60958-CFFE-4E8E-9942-ADD30B71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PLAN CADASTRAL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FD084-500E-4560-83AF-94B9A913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Parcelle et bâtiment surlignés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2975A-02C2-4D8A-A07A-6A18C973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5626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B63CA-82D7-4674-9A3D-C4168FA2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670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CARTE DE SITUATION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AC770-553D-4AFD-9F76-E09741E1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Adresse, transports et repères utiles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5233B-8B5E-430C-A885-C93CE0B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[PARCELLE N°0000]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A5C07-818E-44E3-A725-05B55E75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[Micro-localisation en une phrase]</a:t>
            </a:r>
          </a:p>
        </p:txBody>
      </p:sp>
    </p:spTree>
    <p:extLst>
      <p:ext uri="{BB962C8B-B14F-4D97-AF65-F5344CB8AC3E}">
        <p14:creationId xmlns:p14="http://schemas.microsoft.com/office/powerpoint/2010/main" val="1670234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B813C-613B-49A3-AEFE-474E2D9B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03 · VISITE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99352-DC17-4264-830C-1B0A6EEB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Caractéristiques et qualité d’usage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26126-D361-43D2-9D03-2B2FFF0B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16B37-441D-4A36-9D2B-A2B9C14A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9CFBC-3749-43EA-97B4-E0D02666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A6CDE-0A97-474F-BF97-83EB6801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Visite · plans · photos · déclarations du propriétaire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C0B06-6077-483E-8162-8069AF69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C88B3-85F1-4AAB-9303-A8D8EDC9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048ED-4810-4445-A01E-67D03E27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905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[Hall et circulation]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[Pièces de vie]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[Chambres]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[Salles d’eau]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[Espaces extérieurs]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986A3-168F-41B5-BEFA-32FA273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ÉTAT ET CONFORT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D5160-B888-430E-B9D1-4AEB0846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3905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[État général]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[Matériaux et équipements]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[Travaux réalisés / à prévoir]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acf256f7c4eb3"/>
          <a:srcRect xmlns:a="http://schemas.openxmlformats.org/drawingml/2006/main" l="0" t="3324" r="0" b="3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66850"/>
            <a:ext cx="3695700" cy="3848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50328-E679-4D45-B581-E43C1743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66850"/>
            <a:ext cx="29146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2F3F6-FC21-40EE-8690-2A86BB1A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REGARD PROFESSIONNEL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551DE-4B2F-439E-A495-7424152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4003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[Situation]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[Environnement]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et lumière]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[Atouts distinctifs]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[Points de vigilance]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16FF4-227B-41A5-844B-811EAF0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102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exemple · à remplacer</a:t>
            </a:r>
          </a:p>
        </p:txBody>
      </p:sp>
    </p:spTree>
    <p:extLst>
      <p:ext uri="{BB962C8B-B14F-4D97-AF65-F5344CB8AC3E}">
        <p14:creationId xmlns:p14="http://schemas.microsoft.com/office/powerpoint/2010/main" val="2123406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96121-8090-4EC1-A6C8-6A54A8EC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04 · REPORTAGE PHOTOGRAPHIQUE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EC109-33FE-4E3C-A5C4-F827CCF8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Espaces intérieurs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DC242-B36D-4C00-A3F0-68D84DF6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EBE55-CDCC-4C2D-BAF1-D694AAC4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ED2B1-4936-4069-B3CB-237089BF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7697F-E784-452C-8E03-8199E845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Photographies de visite · légendes validées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2D3E9-C981-4553-A3F6-CC7EC531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7b7bd31b642d4"/>
          <a:srcRect xmlns:a="http://schemas.openxmlformats.org/drawingml/2006/main" l="0" t="16206" r="0" b="16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66850"/>
            <a:ext cx="3429000" cy="2171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B276F-5626-4747-BC24-9AD92F4B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FD0E0-0194-42FA-9EA6-A1FC0DAD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432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231844a0249a8"/>
          <a:srcRect xmlns:a="http://schemas.openxmlformats.org/drawingml/2006/main" l="0" t="16206" r="0" b="16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466850"/>
            <a:ext cx="3429000" cy="21717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3F3F5-430C-4EEB-926F-C3D51E5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C1166-82D9-44A8-9AE2-5CE28E50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432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916f223664e73"/>
          <a:srcRect xmlns:a="http://schemas.openxmlformats.org/drawingml/2006/main" l="2280" t="0" r="22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1466850"/>
            <a:ext cx="4000500" cy="2171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70F44-DCBF-4D60-9545-EFEF2FC9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147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27DA5-3C25-46A6-AC28-63A0DCB6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432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b71d0805a4b68"/>
          <a:srcRect xmlns:a="http://schemas.openxmlformats.org/drawingml/2006/main" l="0" t="20313" r="0" b="20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3790950"/>
            <a:ext cx="5219700" cy="2076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6C1A1-553F-4570-B472-3287336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12522-597F-476A-9662-C551AAA1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976fc9393485c"/>
          <a:srcRect xmlns:a="http://schemas.openxmlformats.org/drawingml/2006/main" l="0" t="33927" r="0" b="33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3790950"/>
            <a:ext cx="5791200" cy="20764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6B0A2-D4DE-4783-836C-8F694D4D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43550"/>
            <a:ext cx="579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D4AB6-26D6-4CDD-BE09-5A9C0B41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72125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</p:spTree>
    <p:extLst>
      <p:ext uri="{BB962C8B-B14F-4D97-AF65-F5344CB8AC3E}">
        <p14:creationId xmlns:p14="http://schemas.microsoft.com/office/powerpoint/2010/main" val="1993046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8E6C7-350D-4F85-BC5D-DB86A2A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05 · REPORTAGE PHOTOGRAPHIQUE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BF372-0C9E-44F4-846C-40D81934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Extérieurs et immeuble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FBE41-975B-4D44-8AFF-A773674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4E9D0-2469-4ABD-B115-D77B3544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1F710-02F3-4A7C-A3EA-6E13A42A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48AF8-1F58-4E89-B379-5849D607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Photographies de visite · façades · jardin · parties communes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8210D-7888-45D3-8DB7-FA3B5176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8036f5a384c72"/>
          <a:srcRect xmlns:a="http://schemas.openxmlformats.org/drawingml/2006/main" l="19695" t="0" r="196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66850"/>
            <a:ext cx="2609850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3CCE0-BF27-4E83-AA0C-D4FAD25D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CC15B-5152-4DE0-80A8-A30D6D17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8a7f3ec074345"/>
          <a:srcRect xmlns:a="http://schemas.openxmlformats.org/drawingml/2006/main" l="12864" t="0" r="12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0" y="1466850"/>
            <a:ext cx="2609850" cy="4000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4EFEF-9780-4209-B035-54C1F5B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4350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5EDB4-B003-4176-9736-FA9062E5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72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883edccd8430b"/>
          <a:srcRect xmlns:a="http://schemas.openxmlformats.org/drawingml/2006/main" l="12864" t="0" r="12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1466850"/>
            <a:ext cx="2609850" cy="4000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2CB43-E555-4717-BABB-4B364E73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99D12-D80F-436E-9789-404435DD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72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0977783e646be"/>
          <a:srcRect xmlns:a="http://schemas.openxmlformats.org/drawingml/2006/main" l="9070" t="0" r="9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1466850"/>
            <a:ext cx="2876550" cy="400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5C79D-1698-44CB-BFCD-30D2DC3B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8C362-EBF7-4303-A849-9828BB1F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720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4B007-5A4B-4CA2-BFF4-7540D5C7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[Observation synthétique sur les extérieurs]</a:t>
            </a:r>
          </a:p>
        </p:txBody>
      </p:sp>
    </p:spTree>
    <p:extLst>
      <p:ext uri="{BB962C8B-B14F-4D97-AF65-F5344CB8AC3E}">
        <p14:creationId xmlns:p14="http://schemas.microsoft.com/office/powerpoint/2010/main" val="157656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3F0C3-26D1-4AE1-B64C-41EC2626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06 ·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237C0-0DAD-4256-8674-308FA567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Plans et organisation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47DE1-9C34-4295-B159-0B39199B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FB74-0723-4FE8-8730-21BC9FAC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877C6-E669-4ACC-B056-46DD631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B0AF6-068A-453E-9FE0-E3C08587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Plans PPE / architecte · identification du lot · visite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EAE8F-3A52-4056-897D-5793250C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D6017-AD4E-4779-888B-45A55F88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6724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62742-7868-4139-B711-B131E686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PLAN PRINCIPAL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E3321-7431-4663-9B05-2B17BBA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Lot et espaces extérieurs clairement identifiés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E6576-9C65-4366-9547-2FE3735B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41529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F3FCA-AEE8-42CA-8ECA-BC3C6008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DÉPENDANCES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22782-96AF-456F-B216-CC48230E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76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Cave, parking, sous-sol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AF63C-D75E-47A0-B881-A3CF0AA2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LECTURE DU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0AA9B-8581-45AC-87C2-8F9D5240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[Circulation]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[Accès extérieurs]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[Orientation]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[Particularités]</a:t>
            </a:r>
          </a:p>
        </p:txBody>
      </p:sp>
    </p:spTree>
    <p:extLst>
      <p:ext uri="{BB962C8B-B14F-4D97-AF65-F5344CB8AC3E}">
        <p14:creationId xmlns:p14="http://schemas.microsoft.com/office/powerpoint/2010/main" val="5196935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438A8D-D1D8-487C-8CC7-9F19C5EB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07 · MARCHÉ ACTIF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09270-6E5A-4908-8351-E6530BAD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Biens actuellement à la vente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D241A-948A-4E61-8607-B891560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35DB8-32EC-4C76-A964-E2DFECB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D0182-FF5C-4832-90A7-89CCE88F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A311E-6854-49DC-B9BE-740514A5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Portails autorisés · captures datées · prix affichés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9298E-126F-412C-9F24-93BC027D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BA430-7C6F-4A53-8D64-FCB84661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9C4B8-AF35-4F5C-A989-43A0CBEB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91A05-5675-466B-A884-D3D3293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FDAF6-EF4E-475B-B116-E8D66C57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22D12-2813-443A-9BD4-CFAA6506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84C26-3CA6-4066-B0E9-4D19B290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499B3-2DB8-4A02-B569-53C4E79E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D546C-CFFE-44EE-BB7B-34612CF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8F652-6A67-4FDF-B2CF-F8353AE8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C61EC-94B8-4B84-A914-1FA730C4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C7D25-49FE-4233-B3AC-FB1577E6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75A70-81C8-4159-B1AD-CF3D3724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313E6-9A33-4D0F-A8ED-7D6B1C69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FAF34-D3A0-46F6-9EFB-C9412516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3BB9B-1A4D-4A8B-B187-6BA6337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70C49-8FB3-4F9E-9C93-097B9095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01738-F074-418C-933B-64F4BB5D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F2284-2BAC-4C4D-88E8-18C0D54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41E31-DB13-47D6-9FC0-D9A40FF8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95CA0-6096-471C-96A4-FA2E0DB2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12A41-302E-47C9-BB8E-238F5CC1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94E92-F383-4616-8F63-3D47E22D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DD258-16CE-4942-A077-E9460DE1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2E81F5-A19B-4A9F-ABD9-C02FC0C7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335950-E3A1-4FBE-A7BF-98666BA1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901FCC-AEC5-4BAE-9184-35C6F1AD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96C573-F5DE-4072-B8F7-C4EC8FAE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4D7BA7-CD66-4F58-BB73-1A945BCD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9E2A3B-433A-4819-84BB-D5DB5F9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88BA6F-2158-4797-93D3-608DFD2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67F129-36FC-4154-9A53-1133090A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DD2581-9DA7-42E3-ABBA-BC2B914D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2E3B79-7991-4275-9A1B-4FEF57E2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427222-DC75-47F7-9582-F33F3DB9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48E03F-89E9-4CD8-86F7-0DA78DCA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2AE013-EA49-4326-9017-D1C10DE2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69F21D-46C0-42FD-B210-1258B16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[Lecture professionnelle des annonces, limites et négociation probable]</a:t>
            </a:r>
          </a:p>
        </p:txBody>
      </p:sp>
    </p:spTree>
    <p:extLst>
      <p:ext uri="{BB962C8B-B14F-4D97-AF65-F5344CB8AC3E}">
        <p14:creationId xmlns:p14="http://schemas.microsoft.com/office/powerpoint/2010/main" val="681399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32D0EC-C4E5-4F1C-B093-B5F2006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08 · TRANSACTIONS ET PROMOTIONS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B0F79-7B5F-459F-BF90-392825F9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Références comparables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4D2D9-5323-4BF6-A044-9704141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A5601-B4CB-4181-BFFC-27F0631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8CB89-EC19-468A-B45A-E98E85D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9E6A8-D919-45FA-B999-54BEB6D6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FAO / RF / ventes D&amp;V / promoteurs · preuves de prix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AD97E-694F-41DF-9D3E-941D6F77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39CEA-62E5-4F56-9365-D9D135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9799A-5941-4A94-8DDD-FB7F1C2F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2AA40-39B0-4450-91FD-A983650E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335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ADRESSE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0CAE6-A711-42D5-9AF8-DEC8793C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335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9FD79-F1EB-4B13-A247-08A20F06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33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SURF.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94460-91F5-4EFE-82DA-748B75FA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335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8BB01-7D68-44E1-B2E3-45436995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335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D0E4F-6DA7-4C2B-980F-C8D7E28D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335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CHF/M²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CE580-26A0-497E-8AD7-ED15BE27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335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491E9-B539-4FD0-833A-D9E2BF1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DFA44-A437-4E09-B417-CB1366D1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F0294-2166-4F77-8C83-FDB9B918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43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04AB8-915A-4448-8207-142B5724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38395-46D5-428B-8EFC-32E2B5A4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BD96A-1772-4105-8FD1-F4454316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98A29-E622-4106-907C-D1A6C304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80C7F-65B5-4894-8A23-944BFB3C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431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F49C3-E050-4994-8FB7-AEC4BA69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B0E66-1F66-4980-A65D-86A90E2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96E1A4-0154-4832-BCBB-54FAE96B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AD38F-9CA9-450C-AD2D-0CE44327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F127A-1E8A-42A0-BB1B-4698E56E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548214-8BF5-4865-817D-1D30923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765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605E5F-E1A0-4F9A-B5BF-6576577C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765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E04C6-5974-49A2-8653-F835E69E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2A300F-315C-4A63-9DC7-F00869B7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10CE65-1875-4288-92AE-EFD5159F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6395AF-5796-4A28-B94B-6188259C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337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B87E8-0DBD-4D7B-885D-7011694B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568572-9148-465F-BC70-0138BAC7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706B91-DF3E-42D7-A7CA-46E162E4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BFB7B9-622F-4836-97D6-0318EBB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807269-274C-43B8-B914-5279912D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35A35D-3AB2-4F95-87A9-CA287A22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8FC639-FEFB-4358-89BC-95BCFEEC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0211AF-C1FF-4158-8C58-E6CC5642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099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F2110E-3046-4D63-921A-254CB98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F9C4C6-D8EC-48F0-90C3-46ACF5B9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ADEA60-75AB-416B-87DA-FE67F310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186CCF-EEB1-467A-8133-120101A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5DDFDC-D5E4-4AC1-9C54-94E8E211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AB7EB1-0A78-4E9A-9883-C8434199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BEEE72-CFBF-476D-B8D8-3247B5FE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A7D58E-BB04-4D95-ACD6-7943E06E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433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E0C100-CDD8-41C9-9C58-AA88B029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433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EB13E4-C82D-41C4-97B8-3B0BD416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26A165-84EE-47FA-BB15-80E4D26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6C9363-8A5C-47BD-A223-F199CEF8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767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2B2B48-8C72-452D-95CE-78E138B2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4D4D7A-0A5C-472D-A491-1D7415D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767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E44286-94D2-48D1-90F2-1910FDEA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BAEF00-CA45-4C3B-A28A-A5D31444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767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4B68B8-A231-4556-9C57-915C9F6D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3E02E1-E0D5-4C9C-A8B7-B4D7AB6E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767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134D06-E333-48A4-B205-EECB91D8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13A446-5CF9-46A3-A6A7-4EDEF6C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3DB62A-0730-45D0-B1B6-D20EA833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0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06AB29-0604-4B51-8AB4-90DF84EB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329DA5-DEF5-406B-85F4-A1CEB5CD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101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908175-C45E-4095-BFE5-42EB023C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93B606-3937-40E1-BB7E-44D9AE7A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01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299235-00A3-4307-8B45-38BABC09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101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206E72-E075-4380-9060-E714084D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101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F2A9A8-A1EB-4093-8B8D-65B90A22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MÉTHODE DE NORMALISATION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B8FE02-0744-44E4-A4FA-2D239DED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[Surface pondérée]  ·  [Parking séparé]  ·  [Valeur du jardin]  ·  [Règle neuf / revente]</a:t>
            </a:r>
          </a:p>
        </p:txBody>
      </p:sp>
    </p:spTree>
    <p:extLst>
      <p:ext uri="{BB962C8B-B14F-4D97-AF65-F5344CB8AC3E}">
        <p14:creationId xmlns:p14="http://schemas.microsoft.com/office/powerpoint/2010/main" val="1385290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5C999-6A32-44AC-8EA4-143C6648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09 · INDICATEURS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918A1-F382-4158-9D8B-E4650E81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Contexte de marché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21E2D-997D-4412-A966-B3FAC73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EF9A3-065D-4DDA-9156-0B92C679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8820F-658D-44CD-895A-BB8F325D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833D1-7844-4F4D-9120-6909DA64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OCSTAT · indicateurs communaux · historique daté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2721F-A928-4EBB-BEE8-E8C46F1C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C4978-DAF6-4218-9751-7EF1537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149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8A3CA-7C67-49F6-882A-EB6BC7E2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ÉVOLUTION DES PRIX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B9F9D-354C-436B-AA17-248CEE49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Graphique éditable ou capture officielle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E7AC5-1AF1-465A-B99E-A00C3C52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5626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77A17-234F-4FDE-8DE2-63586159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NIVEAU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7F2E9-AD6B-420A-82AB-1754D8CF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Prix médian / m² et fourchette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AA5E8-034B-456F-97CE-EF4B1B5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À RETENIR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7C690-52C6-4333-91D7-C9532B8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[Évolution récente documentée]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[Position de la commune]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[Écart entre prix affichés et transactions]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17DD5-387C-448A-8BC8-E81440E9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4861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24403-B49E-44F6-95E7-B02FC8EE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387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REPÈRE 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9D2DB-327C-4414-A917-2EAF3EF6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7BEA8-AB39-4E29-8030-BE9F0C22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245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[Périmètre et date]</a:t>
            </a:r>
          </a:p>
        </p:txBody>
      </p:sp>
    </p:spTree>
    <p:extLst>
      <p:ext uri="{BB962C8B-B14F-4D97-AF65-F5344CB8AC3E}">
        <p14:creationId xmlns:p14="http://schemas.microsoft.com/office/powerpoint/2010/main" val="1000877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F73C8F-33BE-43AF-855F-FF437771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10 · CALCUL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BBC33-C629-4C54-9D4B-B9C622A6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Méthode d’estimation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BF2F9-DD11-41AD-849A-B6A12B43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3F089-8FA3-4AA5-BB32-ABBACEC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C5D16-F338-4501-B748-8374DB2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45779-5BCC-44CD-8BE8-917FDA58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Règles D&amp;V validées · comparables sélectionnés · décisions professionnelles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F39E1-1FD1-4009-8510-789A4F84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74AAA-C70F-4270-B3C3-9E161F4B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SURFACE PONDÉRÉE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46207-B961-4A1A-A21C-A9D8EFBC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2197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77BA0-C341-44CE-AE2F-93B35D99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Appartement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E4B37-8FCD-4C05-A426-9C23A590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 ×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B73D6-BBE4-4DD2-93D3-3513E907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Loggia / balcon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EED1C-5D2D-476C-A4B2-5FC62904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 × [00%]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01FCB-416D-4492-9132-E78120B1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Terrasse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86B92-C709-4BD4-8A95-8A0332F4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 × [00%]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1B0E6-D0B6-4F2C-80DF-E5C1A32A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59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E621F-53EF-41EB-851A-E38800FE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Surface pondérée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FE568-6851-4A5B-9FBF-4D5F4870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0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[00,0 m²]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C537C-B44A-4797-A704-A3A2080C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66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AJUSTEMENTS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1D0D6-1F2B-4E55-81E0-1303B3C0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[Prix de base / m²]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35C28-572C-415A-A2C1-CBA74C8E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Source: comparables approuvés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63381-9567-43D4-9B4A-830FF880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90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[valeur]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D974F-3857-4359-B30C-AFF116BE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384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2F49C-E37D-4E08-BF79-4A652798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[État / vétusté]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66B33-ACCB-47EE-B4C9-76B20DA8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Décision professionnelle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8595F-36D0-4944-B5F3-D9BC8081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[valeur]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62EF10-4169-4D4F-9CDC-9EFB6C84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0587B-C9CB-4FB4-ADCD-1D0294B2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extérieur]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5A326-0268-4EF2-9B12-FE54C61F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Règle validée + sensibilité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BEFBA-B199-48E3-8CE7-C0D7F19C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528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[valeur]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F514FF-8949-4B0B-855B-3A5301A5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7831FC-63AC-4F3C-BEBB-9DEBBC65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/ cave]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CF755D-07CD-43A2-9F32-F0057C71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Transactions locales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B01001-8AA6-40CA-91C0-AD6D5642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33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[valeur]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EA2CAF-FDD4-43B2-BBE1-503D33E2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CC2022-B9C2-4128-BAA3-930B46C7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67CEDE-2391-4358-BF1E-07A23BE4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PRINCIPE DE TRAÇABILITÉ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ADCDB-3125-4795-B103-7D2BA0C1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Chaque chiffre renvoie à sa source.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Chaque ajustement affiche sa règle.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Chaque dérogation exige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21125199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D7C47-5E6E-4614-B062-3406AD1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11 · VALEUR ET STRATÉGIE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FD50D-9515-4F8C-A76F-B1A0BD50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Estimation proposée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65CFC-EEF0-4476-9627-D4551EC0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18BFF-B32B-4A67-84E2-854F7CE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E6532-77D8-4FED-893B-36F34745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746AC-AD90-46AF-99E0-146387B1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Calcul validé · décisions Sandra / valuer · date de validité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EA8B6-1927-4F29-8192-ED95749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0D5D3-D39F-47F6-AB0C-E8BF2E51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CALCUL CENTRAL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ADCEE-32AA-48B6-B346-63423280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Surface pondérée × prix/m²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2153F-2141-4DB6-B308-8A5DB4FA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2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0B01B-1713-4D8D-B3E4-D3736B3E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87742-17F7-49F4-881A-0730D2F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Ajustement état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4C3FE-5F0B-470A-8C6E-7AC0C277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[±00’000]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EA3D8-D7A6-4D48-8808-F6DC817A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9F2FD-3E02-480A-B824-C0430BD4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Jardin / extérieur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95F0D-9989-4682-B354-34B446CE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[±00’000]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FB889-B4DC-4D68-B0A5-2EC92887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452CB-565C-4009-84F6-363B428D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Parking / dépendances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CC02C-C6C2-4E66-9199-82A63A4B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[±00’000]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38AAE-574F-4991-A326-ED288C1A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C3406-E6CE-439D-A5F5-EA75088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INDICATION CENTRALE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37C4F-449B-4A05-9200-FB101DB7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672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FAC8C-5FE1-4C42-A8CA-3DB5346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66850"/>
            <a:ext cx="40005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2836A-1CE8-4609-9E7B-04DEBA48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339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FOURCHETTE DE MISE EN VENTE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CEEC2E-F136-4F55-A0E1-E93DFA1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390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 [MIN]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 [MAX]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2EE7B-145A-40A1-93BD-BDCCF63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A0B77-7C6E-4B2A-8F4C-FAD5A9E4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339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[Validité]</a:t>
            </a:r>
          </a:p>
          <a:p xmlns:a="http://schemas.openxmlformats.org/drawingml/2006/main">
            <a:pPr algn="l">
              <a:def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[Hypothèse de négociation]</a:t>
            </a:r>
          </a:p>
          <a:p xmlns:a="http://schemas.openxmlformats.org/drawingml/2006/main">
            <a:pPr algn="l">
              <a:def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[Positionnement retenu]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E5B663-9D6C-4DBB-BC22-F6FA05DB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DISTINCTIONS À CONSERVER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97C4C7-1A80-4694-B31F-EA32C940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Valeur de marché  ·  Prix de mise en vente  ·  Prix de vente attendu  ·  Seuil de discussion</a:t>
            </a:r>
          </a:p>
        </p:txBody>
      </p:sp>
    </p:spTree>
    <p:extLst>
      <p:ext uri="{BB962C8B-B14F-4D97-AF65-F5344CB8AC3E}">
        <p14:creationId xmlns:p14="http://schemas.microsoft.com/office/powerpoint/2010/main" val="10853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CE4BE8-0B1E-4455-9BB1-73E5F30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12 · CONSEILS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D13BE-4581-4BD3-A234-F58BB638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Points d’attention avant la vente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ED4C1-76F8-4398-952C-587F91A3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279F-E2DF-4D79-8685-645C9E5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7D6C6-EADA-47C8-84C7-37E5F3A4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DBDE2-46D0-4D1B-A3C3-BDD7D70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Sources officielles datées · professionnels externes si nécessaire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E82C8-D240-430A-BCDE-89194ED5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C4CE9-8C09-4BBD-9E90-46401AE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FISCALITÉ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BCCBF-99B2-4B17-85E9-C4113A1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79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AC3FF-FEBF-4314-9134-6FDD7A4E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[Durée de possession]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[Taux indicatif]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[Frais et travaux déductibles]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[Conseil professionnel requis]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6E738-F9DC-4581-94CF-227DB9F4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C31CE-E5F8-4D3B-87C6-8BBCC568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SOURCE /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6A49D-20F9-4FBB-B812-DE10ECCF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[Autorité, document ou spécialiste]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1EFCC-7D0A-4296-A4B3-9880C101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TECHNIQUE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66F40-C251-469B-920E-B3B4723D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859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79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0AE09-5B27-4C78-96E3-8B69ECE0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[OIBT]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[Énergie / IDC]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[Travaux PPE]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[Diagnostics éventuels]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CC6D8-5782-4387-8848-FF684C25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434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4BFE8-A985-42CB-B991-817B15CD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SOURCE /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3843C-2555-465B-8154-ACF1092A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62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[Autorité, document ou spécialiste]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B2513-814C-457D-9351-1CC031C1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CALENDRIER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BFD8C-5171-4AB5-A851-BE4DA25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79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16679-F006-486C-A185-22B73D19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[Fenêtre de commercialisation]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[Documents à compléter]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[Étapes avant publication]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[Décision propriétaire]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43ED6-4C83-4B83-83DF-B13B9A79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EAF84-EF82-4F9C-80CC-2B40771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95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SOURCE /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407E2-01E6-469B-958B-72216014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[Autorité, document ou spécialiste]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A4C75-5E17-48AF-8EE1-C9641E8D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Ces informations doivent rester distinctes de l’estimation et être vérifiées à la date du rapport.</a:t>
            </a:r>
          </a:p>
        </p:txBody>
      </p:sp>
    </p:spTree>
    <p:extLst>
      <p:ext uri="{BB962C8B-B14F-4D97-AF65-F5344CB8AC3E}">
        <p14:creationId xmlns:p14="http://schemas.microsoft.com/office/powerpoint/2010/main" val="11729877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AD9E4-634F-49A9-B2D6-90E5C235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13 · MANDAT DE COURTAGE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855C1-CE3F-4850-BB61-4F14B95B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Deux modalités d’accompagnement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2C48B-8B59-4973-847B-241D87F8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D1E5B-910A-495F-BC08-12F6ACEA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EB97E-987F-4DAA-8FA7-E1CDC71E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A803D-3F87-4D1C-9BA2-F45603D2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Tarifs D&amp;V en vigueur · conditions contractuelles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5538B-4726-4965-B1D3-986BFDD8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6BA96-A6FE-4C79-9FB8-BADBDEE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MANDAT 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EDAE0-6DA1-46D6-9B75-8BDAE0E3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[Commission]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[Frais de diffusion inclus]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[Prestations]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[Durée / résiliation]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C8107-6DC4-4154-9B02-99F2DB60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D05C0-924A-46AE-A523-E5CDBAAA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À CHOISIR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4DAF4-0363-48E1-ABCD-F3DFC6E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[Situation adaptée à cette formule]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75196-2AE1-4608-855D-8AA864EA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71600"/>
            <a:ext cx="5581650" cy="39052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207D9-EA69-4306-9526-910887C2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EXCLUSIVITÉ RESPONSABLE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79C8D-77BE-44AB-A8BA-BD384D94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[Commission]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[Publicité prise en charge]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[Collaboration inter-agences]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[Coordination des visites]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[Qualification des acquéreurs]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5EDAA-C7E0-4DC2-B8ED-0FBE07F7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B812F-4370-4E79-A8B1-82226CDC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RECOMMANDATION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1F290-8B03-4B1C-AC8C-A122D33E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[Pourquoi cette formule correspond au projet]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8210C-DB21-4E56-8DBF-2BD608C3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[Mention environnementale / engagement de l’agence]</a:t>
            </a:r>
          </a:p>
        </p:txBody>
      </p:sp>
    </p:spTree>
    <p:extLst>
      <p:ext uri="{BB962C8B-B14F-4D97-AF65-F5344CB8AC3E}">
        <p14:creationId xmlns:p14="http://schemas.microsoft.com/office/powerpoint/2010/main" val="16642499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6B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DC55C-9FC9-448B-A0B8-E87317FC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14 · PROCHAINE ÉTAPE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095AB-C71D-4B2D-B2C5-C552DF9B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Votre estimation, expliquée et documentée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4C39B-9BCC-43B6-97C5-5FFE8A4D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E6F45-8798-48B8-9008-C2DD1B0E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2115F-F825-466F-B253-560D756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INTERNE · MASQUER AVANT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3C30E-8B42-458B-AB07-D6D9841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 À AJOUTER  Coordonnées D&amp;V · visuels et témoignages autorisés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74C35-549A-44DC-8FE6-49462A48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c913eceaa4cc7"/>
          <a:stretch xmlns:a="http://schemas.openxmlformats.org/drawingml/2006/main"/>
        </p:blipFill>
        <p:spPr>
          <a:xfrm xmlns:a="http://schemas.openxmlformats.org/drawingml/2006/main">
            <a:off x="1391663" y="1504950"/>
            <a:ext cx="2150623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48F7A-1212-445E-84B4-58C91FB3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[Phrase de conclusion courte et personnalisée]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4E5CC-0DBA-424C-8710-75127822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4762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3F715-923C-4422-9036-58AD8621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[PROCHAINE ÉTAPE]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[Date / action / contact]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759D0-3BC3-45D4-9D9F-B3B84543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SANDRA VANHALST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8ED79-0215-43AC-BB6D-CE6AE915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[e-mail]</a:t>
            </a:r>
          </a:p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[téléphone]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E9508-E63A-4FF9-9410-5BBEF959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788CB-9B90-4192-95EE-6D33429E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ADRIEN DÉSORMIÈRE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BCD24-CBBD-4551-98F8-5DD310E0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[e-mail]</a:t>
            </a:r>
          </a:p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[téléphone]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317DD-CF83-4C55-A0D2-394D369C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76750"/>
            <a:ext cx="12763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35D28-A1B0-43D1-B083-6A6482AB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434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QR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3BE02-78E5-4CA1-A91B-63A0C5B9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482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Lien vente / contact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8AC41-CEF7-49B6-8ACB-2FA96FA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95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www.desormiere-vanhalst.ch</a:t>
            </a:r>
          </a:p>
        </p:txBody>
      </p:sp>
    </p:spTree>
    <p:extLst>
      <p:ext uri="{BB962C8B-B14F-4D97-AF65-F5344CB8AC3E}">
        <p14:creationId xmlns:p14="http://schemas.microsoft.com/office/powerpoint/2010/main" val="285070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2026-09-30T12:36:51.5140000Z</dcterms:created>
  <dcterms:modified xsi:type="dcterms:W3CDTF">2026-09-30T12:36:51.5140000Z</dcterms:modified>
</coreProperties>
</file>